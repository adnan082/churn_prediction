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-18" y="-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E94F37"/>
                </a:solidFill>
              </a:rPr>
              <a:t>Prediction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XGBoost  •  Random Forest  •  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01 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3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02  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03  Modelling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04  Model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05  Confusion Matrices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06  ROC &amp; Precision-Recall Curves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3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07  Feature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08  SHAP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09  Key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291840" cy="173736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94F37"/>
                </a:solidFill>
              </a:rPr>
              <a:t>3,150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Total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91840" cy="173736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94F37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291840" cy="173736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508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94F37"/>
                </a:solidFill>
              </a:rPr>
              <a:t>15.7%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Churn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3291840" cy="173736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94F37"/>
                </a:solidFill>
              </a:rPr>
              <a:t>2,655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Retained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291840" cy="173736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94F37"/>
                </a:solidFill>
              </a:rPr>
              <a:t>495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Churned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657600"/>
            <a:ext cx="3291840" cy="173736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3794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94F37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Null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EDA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Modelling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384048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F37"/>
                </a:solidFill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Baseline linear model with L1/L2 regularisation.
Class-weight balancing for imbalanced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3566160" cy="384048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F37"/>
                </a:solidFill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Ensemble of decision trees with Gini impurity.
Naturally handles non-linear relationships.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66160" cy="3840480"/>
          </a:xfrm>
          <a:prstGeom prst="rect">
            <a:avLst/>
          </a:prstGeom>
          <a:solidFill>
            <a:srgbClr val="16213E"/>
          </a:solidFill>
          <a:ln>
            <a:solidFill>
              <a:srgbClr val="E94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F37"/>
                </a:solidFill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Gradient boosted trees with scale_pos_weight.
Best suited for tabular churn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All models tuned with 5-fold StratifiedKFold GridSearchCV  •  Scoring: F1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E94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LogisticRegression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0.840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0.494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0.879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0.633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94F37"/>
                          </a:solidFill>
                        </a:rPr>
                        <a:t>RandomForest</a:t>
                      </a:r>
                    </a:p>
                  </a:txBody>
                  <a:tcPr>
                    <a:solidFill>
                      <a:srgbClr val="1E30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1E30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0.893</a:t>
                      </a:r>
                    </a:p>
                  </a:txBody>
                  <a:tcPr>
                    <a:solidFill>
                      <a:srgbClr val="1E30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0.929</a:t>
                      </a:r>
                    </a:p>
                  </a:txBody>
                  <a:tcPr>
                    <a:solidFill>
                      <a:srgbClr val="1E30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1E30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0.985</a:t>
                      </a:r>
                    </a:p>
                  </a:txBody>
                  <a:tcPr>
                    <a:solidFill>
                      <a:srgbClr val="1E3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0.962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0.838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0.939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0.886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0.993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F37"/>
                </a:solidFill>
              </a:rPr>
              <a:t>Best model by F1-Score: RandomForest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ROC &amp; Precision-Recall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Feature Importance  (RandomForest)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9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SHAP Analysis  (RandomForest)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109728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Overall churn rate: 15.7% of customers churned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13432"/>
            <a:ext cx="109728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Customers with complaints churn at 83.0% vs 10.1% without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90672"/>
            <a:ext cx="109728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Best model: RandomForest  |  F1=0.911  |  ROC-AUC=0.985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67912"/>
            <a:ext cx="109728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Complaints &amp; Call Failures are the strongest churn predictors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45152"/>
            <a:ext cx="109728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High-value customers have significantly lower churn rates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22392"/>
            <a:ext cx="109728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234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Cheema, Adnan (Student)</cp:lastModifiedBy>
  <cp:revision>3</cp:revision>
  <dcterms:created xsi:type="dcterms:W3CDTF">2013-01-27T09:14:16Z</dcterms:created>
  <dcterms:modified xsi:type="dcterms:W3CDTF">2026-03-25T16:48:13Z</dcterms:modified>
  <cp:category/>
</cp:coreProperties>
</file>